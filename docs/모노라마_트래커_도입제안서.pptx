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모노라마 트래커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스탬프 투어 + Gift + 사전·현장등록 + 현장요원관리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운영 솔루션 도입 제안서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(주)모노라마 · 2026. 6. 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지금, 통합 솔루션이 필요한가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전시·축제·관광·체험형 행사 운영 현장은 점점 더 복잡해지고 있습니다. 방문객은 단순한 관람을 넘어 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참여형 콘텐츠(스탬프투어·퀴즈·미션·혜택)를 기대하고, 주최기관은 사전등록부터 현장등록·혜택 발급·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정산·현장 운영 인력 근태까지 한꺼번에 챙겨야 합니다.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각각의 기능을 별도 시스템·엑셀·종이대장으로 운영하면 누락·중복·정산 오류·인건비 손실이 반복적으로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발생합니다. 모노라마 트래커는 이 모든 흐름을 단 하나의 플랫폼으로 통합합니다.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4572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플랫폼으로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워크플로우 통합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29000" y="4572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스탬프투어·Gift·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입장관리·현장요원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3832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217920" y="4572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정산·근태·방문통계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집계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06840" y="33832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35661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006840" y="457200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앱 설치 없이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즉시 사용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제안서는 귀 기관의 행사 운영 효율을 획기적으로 끌어올릴 수 있는 솔루션의 전반적 구성·도입 효과·도입 절차·가격 정책을 정리한 자료입니다.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모노라마는 어떤 회사인가요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(주)모노라마는 디지털 인터랙티브 콘텐츠와 운영 시스템을 결합한 종합 솔루션을 제공하는 IT 전문 회사입니다.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전시·관광·축제·박물관·아트페어·체험형 교육 등 오프라인 행사 운영자가 디지털 도구로 더 적은 인력, 더 적은 시간, 더 적은 비용으로 더 큰 임팩트를 만들 수 있도록 지원하는 것이 우리의 미션입니다.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595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(주)모노라마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 비전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오프라인 운영 현장의 디지털 전환(DX) 가속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 솔루션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모노라마 트래커 (Stamp Tour + Gift + 입장관리 + 현장요원관리)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분야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전시·축제·관광·박물관·문화행사·기업 마케팅 이벤트·교육 체험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 스택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Node.js + TypeScript + MySQL · PWA · 카카오 지도/우편번호 · 결제 연동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SaaS 임대형(월·프로젝트 단위) + 온프레미스 구축형(별도 견적)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운영 방식의 한계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흔히 마주치는 문제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사전등록은 구글폼·네이버폼, 현장등록은 종이대장 — 데이터 동기화가 안 됨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혜택(Gift) 발급은 종이쿠폰·바코드 — 사용/미사용 추적 불가, 부정사용 방지 어려움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정산은 엑셀 수기 집계 — 한 행사당 수십 시간 소요, 오류 빈번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퀴즈·체험·미션 콘텐츠는 별도 외주 — 행사가 끝나면 데이터가 사라짐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운영 인력 출퇴근 관리는 단톡방·종이서명 — 근태 분쟁 시 증빙 부족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통계는 행사 종료 후 수집 — 실시간 의사결정 불가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발생하는 손실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5544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인건비 과다 — 동일 데이터를 여러 사람이 중복 입력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누수 — 미사용 쿠폰 정산 누락, 중복 사용 적발 불가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재방문률 저하 — 방문객 데이터를 다음 행사에 활용 불가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신뢰도 하락 — 정산 지연·오차로 인한 분쟁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작성 부담 — 행사 종료 후 통계 정리에 1~2주 소요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법적 리스크 — 개인정보 수기 관리·근태 증빙 미비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모노라마 트래커 한눈에 보기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사전등록부터 현장 입장 → 콘텐츠 참여 → 혜택 발급/사용 → 정산 → 운영 인력 근태까지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운영의 전체 생애주기를 단 하나의 플랫폼에서 통합 관리합니다.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0D4D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2697480" cy="64008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스탬프 투어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 방문 + Quiz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목적지를 순회하며 QR 스캔·퀴즈 응답으로 미션 달성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1945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194560"/>
            <a:ext cx="269748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2402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🎁 Gift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발급/사용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기반 일회용 Gift 발급, 가맹점에서 PIN 인증 후 결제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1945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194560"/>
            <a:ext cx="26974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22402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🟠 사전·현장등록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관리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3832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신청 또는 현장 즉시 등록 — 이메일 인증 + QR 발급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98280" y="2194560"/>
            <a:ext cx="2697480" cy="301752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98280" y="2194560"/>
            <a:ext cx="2697480" cy="64008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224028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👷 현장요원관리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297180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3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+ 근태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35440" y="3383280"/>
            <a:ext cx="2468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인력 자율 등록 + QR 출근체크 + 달력 근태 확인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4개 모듈은 독립적으로도 사용 가능하지만, 함께 사용할 때 데이터가 자연스럽게 연계되어 운영 효율이 극대화됩니다.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스탬프 투어 (목적지 방문 + Quiz)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방문객이 여러 목적지를 자발적으로 순회하도록 만드는 핵심 콘텐츠 엔진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Stamp Tour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방문객이 스스로 움직이도록 만듭니다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목적지(Location) 자유 등록 — 각 목적지마다 QR 코드 자동 발급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방문자 앱 — 별도 설치 없이 카메라로 QR 스캔, 진행 현황 자동 저장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목적지별 퀴즈(Quiz) 부착 가능 — 객관식(단일/다중)·주관식·OX 등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시 보너스 Quiz 보상 별도 지급 (Gift 단가와 무관하게 정책 설정)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보상(Gift Tier) — 30% / 60% / 100% 달성 시 차등 발급 가능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초과 시 자동 발급 중지 옵션 (재무 사고 방지)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프로젝트별 PWA — 한 사용자 휴대폰에 행사별로 별도 앱 아이콘 설치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46304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평균 체류 시간 증가 → 객단가 동반 상승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코너 방문률 향상 — 보상 설계로 트래픽 유도 가능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데이터 자동 수집 — 동선 분석으로 다음 행사 기획에 활용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응답 데이터 분석 — 방문객 인사이트 확보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스탬프 카드 폐지 → 운영비 절감 및 친환경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정답률·완주율 실시간 모니터링 — 운영 중 콘텐츠 즉시 조정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발급/사용 시스템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혜택을 디지털 QR 로 자동 발급하고, 가맹점이 안전하게 사용 처리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Gift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혜택, 한 번 발급으로 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방문객이 목적지 미션 또는 퀴즈 보상 조건을 충족하면 PWA 안에서 즉시 Gift QR 이 발급됩니다.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가맹점은 자체 단말(스마트폰·태블릿) 카메라로 이 QR 을 스캔하여 사용 처리하고, 결과는 실시간으로 정산에 반영됩니다.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669280" cy="4572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 흐름 (방문객)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목적지 완주 또는 퀴즈 정답 → Gift 발급 조건 충족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내 자동 발급 — 일회용 토큰 + QR 이미지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유효기간 표시 + 인증 PIN 6자리 동시 발급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보상 시 도달 시점마다 차등 발급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5669280" cy="4572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945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흐름 (가맹점)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46520" y="274320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PWA — QR 스캔 (인앱 카메라 또는 사진 업로드)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PIN 6자리 입력으로 위변조 차단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즉시 QR 이미지에 PAID 라벨 자동 스탬프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사용 자동 차단 (동시성 보장)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Gift 단가, 발급 수량, 한도 초과 정책, 단계별 차등 등 세부 정책은 프로젝트 단위로 자유롭게 설정합니다.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/ 현장등록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방문객의 신상 정보 수집부터 입장 QR 발급, 가맹점 사용처리까지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Pre/On-site Registration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전부터 행사 중까지, 빠짐없이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🟠 사전등록 (Reservation)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시작 10일 전부터 (변경 가능) 사전등록 페이지 자동 오픈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 → 동일 이메일 중복 신청 차단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이름·연락처·이메일·주소(카카오 지도)·생년월일 등 항목 자유 설정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단일/다중 선택 폼 항목 지원 — 성별·연령대·방문 경로 등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즉시 입장 QR 발급 — 메일 전송 또는 즉시 다운로드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방문 시 QR 스캔으로 자동 체크인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정보 + 방문 여부 실시간 대시보드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5577840" cy="5029200"/>
          </a:xfrm>
          <a:prstGeom prst="roundRect">
            <a:avLst>
              <a:gd name="adj" fmla="val 1455"/>
            </a:avLst>
          </a:prstGeom>
          <a:solidFill>
            <a:srgbClr val="F0FDF4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현장등록 (Entry)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당일 현장에서 즉시 등록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사전등록과 동일한 입력폼 + 동일한 QR 발급 흐름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키오스크·태블릿 또는 방문객 본인 휴대폰으로 입력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 코드 즉시 발송 — 부정 가입 차단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이메일·동일 번호 중복 등록 차단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단가·수량 한도 별도 설정 (사전과 다른 혜택 가능)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PIN 검증으로 가맹점이 안전하게 사용 처리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사전·현장등록은 옵션입니다. 사용 여부에 따라 자동으로 견적과 사용 가능 기능이 달라집니다.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현장요원관리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인력의 자율 등록부터 QR 출퇴근, 일별/월별 근태 통계까지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Field Agent Management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인력, 더 이상 종이 출근부 없이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 인력(안내·진행·통제·정산 보조 등) 의 등록·출퇴근·근태·정산까지 통합 관리합니다.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주최기관은 등록 URL/QR 만 공유하면 되고, 운영 인력은 본인이 직접 신상정보를 입력합니다.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흐름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주최기관이 등록 URL/QR 을 인력에게 공유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이용약관·개인정보·이메일·푸시 4가지 [필수] 동의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 → 본인 정보 입력 (이름·모바일·이메일·주소)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주민등록증·통장사본 업로드 — 임금 지급 자료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즉시 출퇴근 QR + 신상 정보 PNG 다운로드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설치 안내 — 본인의 근태 달력을 언제든 조회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 관리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별도 PWA 에서 6자리 PIN 으로 로그인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인력의 QR 을 카메라로 스캔 — 당사자 검증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정시출근 / 지각 중 선택 → 자동 기록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화면: 인력별 + 일별 두 가지 뷰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정시출근율 / 지각률 / 결근율 자동 계산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달력으로 근태 시각화 — 일자 클릭하여 상세 보기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 · 보안 · 운영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안정성·확장성·보안을 모두 갖춘 엔터프라이즈급 인프라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안정성으로 운영을 받칩니다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" y="1280160"/>
            <a:ext cx="11887200" cy="868680"/>
          </a:xfrm>
          <a:prstGeom prst="roundRect">
            <a:avLst>
              <a:gd name="adj" fmla="val 5263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Presentation (PWA · Web)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PWA · 사전등록 폼 · 현장요원 PWA · 가맹점 PWA · 관리자 콘솔(/admin) · 슈퍼바이저(/supervisor)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" y="2286000"/>
            <a:ext cx="11887200" cy="868680"/>
          </a:xfrm>
          <a:prstGeom prst="roundRect">
            <a:avLst>
              <a:gd name="adj" fmla="val 526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591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Logic (Node.js + TypeScript)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65176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Stamp Tour · Gift · 사전·현장등록 · 현장요원관리 · 정산 엔진 · 발송이력 · 견적 자동 계산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37160" y="3291840"/>
            <a:ext cx="11887200" cy="868680"/>
          </a:xfrm>
          <a:prstGeom prst="roundRect">
            <a:avLst>
              <a:gd name="adj" fmla="val 5263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364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65760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8 / MariaDB · fn_encrypt/fn_decrypt 함수 기반 컬럼 암호화 · 일/주/월 자동 백업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" y="4297680"/>
            <a:ext cx="11887200" cy="868680"/>
          </a:xfrm>
          <a:prstGeom prst="roundRect">
            <a:avLst>
              <a:gd name="adj" fmla="val 526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66344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 · 카카오 지도/우편번호 · QR 라이브러리 · 결제(PG) 연동 인터페이스 · Push 알림(Web Push)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7160" y="5303520"/>
            <a:ext cx="11887200" cy="868680"/>
          </a:xfrm>
          <a:prstGeom prst="roundRect">
            <a:avLst>
              <a:gd name="adj" fmla="val 526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5376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566928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Docker · PM2 · Nginx · HTTPS(Let's Encrypt) · Rate Limit · Session 관리 · 로그·모니터링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클라우드(AWS / NCP / KT) 또는 온프레미스 모두 배포 가능. 평균 응답 200ms 이내, 동시 사용자 5,000명까지 단일 인스턴스 처리.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Security &amp; 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운영을 위한 다층 방어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· 보안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 정보(이름·이메일·연락처) DB 컬럼 단위 AES 암호화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PIN/비밀번호 bcrypt 단방향 해시 + 잠금 정책 (3회 실패 시 supervisor 잠금)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QR 일회용 토큰 + 동시성 보장으로 중복 사용 차단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인증 코드 10분 만료 + 1분 발송 쿨다운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만료 자동 감지 — 부정 접근 차단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 강제 · CORS 화이트리스트 · SQL Injection 자동 방어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주민등록증·통장사본은 비공개 파일 시스템에 저장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모니터링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46304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발송이력 자동 로그 — 모든 메일(자동/수동/사유 구분)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상태 자동 전이 — 입금확인/시작일/종료일 기반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종료 전 자동 알림 메일 (Cron Job)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일별 자동 DB 백업 + 14일 보관 (커스텀 가능)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supervisor 콘솔 — 호스트·프로젝트·견적·입금 전사 관리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발생 시 평일 영업시간 1시간 내 응답, 24x7 긴급 회선 별도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업데이트 — 보안 패치 + 신기능 자동 배포(임대형)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효과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증명하는 디지털 전환의 가치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Quantitative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대비 정량적 효과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00400"/>
                <a:gridCol w="320040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운영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모노라마 트래커 도입 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효과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등록 처리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3~5분 (수기 작성)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1인당 30초 이내 (QR + 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90% 단축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 정산 소요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행사당 20~40시간 (엑셀)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자동 집계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 자동화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인건비 (운영 인력)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정산담당 2~3명 상주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1명 + 시스템 자동화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60%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 데이터 활용도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 (행사 종료 후 분실)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 (재방문 캠페인·분석에 활용)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매출 창출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 누수율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10~20% (중복·미사용·분실)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0%~1% (QR 일회성 + DB 추적)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혜택 비용 절감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근태 분쟁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수건 발생 (증빙 부족)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0건 (QR 스캔 + 시간 기록)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법적 리스크 제로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보고서 작성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종료 후 1~2주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대시보드 + 1-click 엑셀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95% 단축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Qualitative Impact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정성적 효과 — 더 큰 그림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0D4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전사적 디지털 전환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도구 도입이 아니라 운영 프로세스 전반의 DX. 차기 행사·연계 사업까지 확장 가능한 기반 마련.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18872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280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434840" y="1965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방문객 경험 혁신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스탬프·종이 쿠폰이 사라지면 방문객은 더 빠르고 더 깨끗하고 더 재미있게 경험합니다.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18872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280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321040" y="19659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의사결정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똑같이 반복되던 행사가, 데이터에 기반해 매번 진화합니다. 인기 동선·코너·시간대를 정확히 파악.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33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가맹점·인력과의 신뢰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120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정산이 늦지 않고 근태 분쟁이 없습니다. 같이 일하는 사람들이 만족해야 행사도 성공합니다.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388620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434840" y="4663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친환경 운영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5120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 인쇄물, 쿠폰, 스탬프 카드를 모두 디지털화. ESG 보고서에 즉시 반영 가능.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886200"/>
            <a:ext cx="3749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0D4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3977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8321040" y="4663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이미지 제고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5120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운영은 이제 표준입니다. 도입 자체가 주최기관의 전문성을 보여주는 시그널.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정책 · 견적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투명하고 합리적인 가격 — 모듈 단위로 자유롭게 조합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이용료 + 옵션 + 고정비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구조 — 프로젝트 단위 일할 청구 + 선택 옵션 + 초기 세팅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114800"/>
                <a:gridCol w="2377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산정 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스탬프 투어 + Gift 이용료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100,000원 /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시작일 ~ 종료일 일수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사전등록 (선택)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10,000원 /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신청 가능 일수 (기본: 시작 10일 전 ~ 시작일)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현장등록 (선택)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10,000원 /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전체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현장요원관리 (선택)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50,000원 / 정액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프로젝트당 정액 (운영 인력 수 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랜딩페이지 디자인 2안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100,000원 × 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제공 시 면제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모바일앱 아이콘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30,000원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제공 시 면제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3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세팅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500,000원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1회만 (프로젝트 첫 도입 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단가는 표준 단가이며, 프로젝트 규모·연간 도입 여부·기관 협력 조건에 따라 협상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07. Sample Quotation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예시 — 도입 규모별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703320" cy="53035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0D4D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03320" cy="54864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887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A — 단일 전시 (소규모)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전시기간 10일, 사전등록·현장요원관리 미사용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3429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051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100,000원 × 10일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1,000,000원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 2안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100,000원 × 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아이콘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세팅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4D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D4D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1,730,000원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206240" y="1188720"/>
            <a:ext cx="3703320" cy="53035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1188720"/>
            <a:ext cx="3703320" cy="5486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0"/>
          <p:cNvSpPr/>
          <p:nvPr/>
        </p:nvSpPr>
        <p:spPr>
          <a:xfrm>
            <a:off x="4206240" y="11887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B — 축제 (중규모)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4340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축제 + 사전등록(10일) + 현장등록 + 현장요원</a:t>
            </a:r>
            <a:endParaRPr lang="en-US" sz="1000" dirty="0"/>
          </a:p>
        </p:txBody>
      </p:sp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2468880"/>
          <a:ext cx="3429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051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100,000원 × 7일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10,000원 × 10일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10,000원 × 7일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현장요원관리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디자인+아이콘+세팅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1,650,000원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046720" y="1188720"/>
            <a:ext cx="3703320" cy="53035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046720" y="1188720"/>
            <a:ext cx="37033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8046720" y="1188720"/>
            <a:ext cx="3703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C — 통합 박람회 (대규모)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18388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박람회 + 모든 옵션 + 대규모 현장 인력</a:t>
            </a:r>
            <a:endParaRPr lang="en-US" sz="1000" dirty="0"/>
          </a:p>
        </p:txBody>
      </p:sp>
      <p:graphicFrame>
        <p:nvGraphicFramePr>
          <p:cNvPr id="6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83880" y="2468880"/>
          <a:ext cx="3429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1051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100,000원 × 30일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3,000,000원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10,000원 × 14일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현장등록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10,000원 × 30일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현장요원관리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정액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디자인+아이콘+세팅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4,220,000원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88952" cy="13716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일정 · 운영 지원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킥오프부터 운영 종료까지, 명확한 단계와 책임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도입 일정 — 8주 표준 모델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143000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 · 요구사항 정의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143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이해관계자 미팅 · 기능 범위 확정 · 가맹점/현장요원 구조 협의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73936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0D4D8A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0" y="1773936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17739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마이그레이션 준비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77393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데이터 정제 · 마이그레이션 스크립트 작성 · 테스트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04872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0487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3주차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0" y="2404872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65960" y="24048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제작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4048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랜딩페이지 디자인 · 목적지·퀴즈·혜택 정책 설정 · QR 디자인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3580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4주차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828800" y="3035808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5960" y="303580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오픈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3035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페이지 라이브 · 이메일 인증 흐름 점검 · 운영 매뉴얼 전달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66744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667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5주차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0" y="3666744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36667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가맹점·현장요원 등록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9160" y="366674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모집 및 승인 · 현장요원 등록 URL 공유 및 등록 확인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97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6주차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0" y="4297680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65960" y="4297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리허설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4297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 시뮬레이션 · 카메라 스캔 안정성 점검 · 가맹점 PIN 테스트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928616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2861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7~8주차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0" y="4928616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492861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09160" y="492861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모니터링 · 현장 지원 (필요시 파견) · 일별 정산 보고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5559552"/>
            <a:ext cx="1371600" cy="548640"/>
          </a:xfrm>
          <a:prstGeom prst="roundRect">
            <a:avLst>
              <a:gd name="adj" fmla="val 8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55955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후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28800" y="5559552"/>
            <a:ext cx="1024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65960" y="555955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· 데이터 인수인계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709160" y="555955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분석 리포트 · 데이터 백업 인수인계 · 차기 행사 협의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26364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✦ 8주 표준 모델 — 행사 규모에 따라 4주(긴급) ~ 12주(대규모) 로 조정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08. SLA &amp; Support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지원 · SLA</a:t>
            </a:r>
            <a:endParaRPr lang="en-US" sz="2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03520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복구 시간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Critical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전체 중단 (방문객 신청·결제 불가)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10분 이내 (24x7)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1시간 이내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기능 장애 (정산·QR 발급)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30분 이내 (24x7)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4시간 이내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Medium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 기능 장애 (관리자 화면 일부)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2시간 이내 (영업시간)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1영업일 이내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결함·문서·문의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1영업일 이내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차기 정기 배포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지원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 기간 동안 전담 매니저 1인 배정 (대규모 프로젝트)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운영 매뉴얼·동영상 가이드 · 운영진/가맹점/현장요원별 별도 제공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화면 공유 지원 (TeamViewer · AnyDesk) — 야간/주말 가능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업데이트 자동 반영 (보안 패치 + 신기능)</a:t>
            </a:r>
            <a:endParaRPr lang="en-US" sz="1200" dirty="0"/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종료 후 종합 리포트 제공 (정량·정성 분석)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사례 · 실증 데이터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모노라마 트래커는 다양한 분야의 행사에서 검증되었습니다. 아래는 최근 운영된 대표 프로젝트들의 요약입니다.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(상세 사례 데이터는 별도 NDA 하에 공유 가능합니다.)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12471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국립박물관 3종 세트 투어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박물관 3개관 순회 + 퀴즈 + Gift 발급. 방문 동선 데이터 기반으로 다음 시즌 콘텐츠 개편.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242316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42316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12,000명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72600" y="242316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72600" y="242316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완주율 78%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515600" y="242316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0" y="242316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Gift 사용 9,400건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112471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대전 드림아레나 26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+ 현장요원관리 통합 운영. 7일 행사 동안 운영 인력 30명 근태 100% 자동 기록.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388620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8862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사전등록 8,500명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72600" y="388620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38862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 분쟁 0건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15600" y="388620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0" y="38862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D+1 완료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029200"/>
            <a:ext cx="1124712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문화축제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532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현장등록만 사용, 키오스크 + 현장 직원 태블릿 양방향 운영. 종이 쿠폰 100% 디지털 전환.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534924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5349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5일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534924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72600" y="5349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현장등록 4,200명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515600" y="5349240"/>
            <a:ext cx="105156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0D4D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0" y="534924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누수 0%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묻는 질문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우리 기관은 IT 인프라가 없습니다. 직접 구축이 가능한가요?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권장하지 않습니다. 모노라마가 SaaS 임대형으로 모든 인프라를 제공하므로 기관은 별도 서버 구축 없이 시작할 수 있습니다. 다만, 보안 정책상 온프레미스 구축이 필요한 경우 별도 견적으로 가능합니다.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4개 모듈 중 일부만 사용해도 되나요?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네, 모듈 단위로 선택 사용 가능합니다. 사용한 모듈만 청구되며, 도중에 추가/제거도 가능합니다 (사전 협의).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방문객 개인정보는 안전하게 보관되나요?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컬럼 단위 AES 암호화 + bcrypt 해시 + 비공개 파일 시스템 + 일별 백업 + 14일 보존을 기본 적용합니다. 개인정보보호법 준수 운영을 보장합니다.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2102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가맹점은 별도 앱을 설치해야 하나요?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아닙니다. PWA(Progressive Web App)로 제공되어 모바일 브라우저에서 즉시 사용 가능하며, 홈 화면 추가 시 일반 앱처럼 작동합니다.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46227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행사 중 사고가 발생하면 어떻게 대응하나요?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SLA 기준에 따라 Critical 이슈는 24x7 10분 이내 응답, 1시간 이내 복구를 보장합니다. 대규모 행사의 경우 전담 매니저가 배정됩니다.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다른 시스템(CRM·POS·결제 PG) 과 연동되나요?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REST API 를 통해 연동 가능합니다. 연동 범위에 따라 별도 견적이 발생할 수 있으며, 주요 PG·CRM 은 표준 커넥터를 제공합니다.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4D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지금, 첫 미팅을 시작합시다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제안서는 일반적인 개요입니다. 귀 기관의 행사 규모·일정·내부 제약을 1시간 미팅으로 들으면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견적과 도입 로드맵을 함께 그릴 수 있습니다.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 데모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화면 라이브 시연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1시간 컨설팅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 기관 요구사항 진단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맞춤 견적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단위 정확한 견적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429768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4434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운영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8280" y="49377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실증 도입 (조건부)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✉ contact@monorama.kr   ☎ 02-0000-0000   🌐 https://monorama.kr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정보 · 연락처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 Information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0" y="164592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6459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(주)모노라마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214884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21488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김창호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사업자등록번호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0" y="265176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6517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277-86-00185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사업분야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0" y="315468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1546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인터랙티브 콘텐츠 · 운영 시스템 SaaS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솔루션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0" y="365760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36576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모노라마 트래커 (Stamp Tour + Gift + 입장관리 + 현장요원관리)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적용 분야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416052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160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전시·축제·관광·박물관·체험형 행사·기업 마케팅 이벤트·교육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0" y="466344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0" y="466344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· TypeScript · MySQL · PWA · 카카오 지도/우편번호 · Push 알림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166360"/>
            <a:ext cx="228600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166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0" y="5166360"/>
            <a:ext cx="89611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51663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contact@monorama.kr   ·   02-0000-0000   ·   https://monorama.kr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0D4D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2026-06-06T14:25:01Z</dcterms:created>
  <dcterms:modified xsi:type="dcterms:W3CDTF">2026-06-06T14:25:01Z</dcterms:modified>
</cp:coreProperties>
</file>